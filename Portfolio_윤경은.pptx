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27500"/>
                </a:solidFill>
                <a:latin typeface="Consolas"/>
              </a:defRPr>
            </a:pPr>
            <a: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맑은 고딕"/>
              </a:defRPr>
            </a:pPr>
            <a:r>
              <a:t>윤경은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0A0A0"/>
                </a:solidFill>
                <a:latin typeface="맑은 고딕"/>
              </a:defRPr>
            </a:pPr>
            <a:r>
              <a:t>통계 기반 분석 + 풀스택 개발로 데이터를 서비스로 전환합니다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4572000"/>
            <a:ext cx="1828800" cy="38100"/>
          </a:xfrm>
          <a:prstGeom prst="rect">
            <a:avLst/>
          </a:prstGeom>
          <a:solidFill>
            <a:srgbClr val="E2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A0"/>
                </a:solidFill>
                <a:latin typeface="맑은 고딕"/>
              </a:defRPr>
            </a:pPr>
          </a:p>
          <a:p>
            <a:pPr>
              <a:spcBef>
                <a:spcPts val="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가천대학교 응용통계학과 4학년</a:t>
            </a:r>
          </a:p>
          <a:p>
            <a:pPr>
              <a:spcBef>
                <a:spcPts val="60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yge0307@gmail.com  |  github.com/ykgstar37-lab</a:t>
            </a:r>
          </a:p>
          <a:p>
            <a:pPr>
              <a:spcBef>
                <a:spcPts val="600"/>
              </a:spcBef>
              <a:defRPr sz="1300" b="0">
                <a:solidFill>
                  <a:srgbClr val="E27500"/>
                </a:solidFill>
                <a:latin typeface="맑은 고딕"/>
              </a:defRPr>
            </a:pPr>
            <a:r>
              <a:t>portfolio-nine-orcin-86.vercel.app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7500"/>
                </a:solidFill>
                <a:latin typeface="Consolas"/>
              </a:defRPr>
            </a:pPr>
            <a:r>
              <a:t>ABOUT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어떤 사람인가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411480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0312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가천대학교 응용통계학과 4학년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통계 분석(GARCH, Monte Carlo, K-means)을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 풀스택 웹 서비스로 전환하는 데 집중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Jupyter/R 분석 → 실시간 대시보드,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 인터랙티브 지도 등 사용자 서비스로 확장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LangChain/LangGraph 기반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 AI 에이전트 및 RAG 파이프라인 구축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• Python(FastAPI, Django) +</a:t>
            </a:r>
          </a:p>
          <a:p>
            <a:pPr>
              <a:spcBef>
                <a:spcPts val="200"/>
              </a:spcBef>
              <a:defRPr sz="1300" b="0">
                <a:solidFill>
                  <a:srgbClr val="1A1A1A"/>
                </a:solidFill>
                <a:latin typeface="맑은 고딕"/>
              </a:defRPr>
            </a:pPr>
            <a:r>
              <a:t>   JavaScript/TypeScript(React) 풀스택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7500"/>
                </a:solidFill>
                <a:latin typeface="Consolas"/>
              </a:defRPr>
            </a:pPr>
            <a:r>
              <a:t>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Consolas"/>
              </a:defRPr>
            </a:pPr>
            <a:r>
              <a:t>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Python, JavaScript,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971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Consolas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246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React, Tailwind CSS, Vite, Zustand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Consolas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FastAPI, Django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43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Consolas"/>
              </a:defRPr>
            </a:pPr>
            <a:r>
              <a:t>Data /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617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pandas, scikit-learn, LangChain, OpenAI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Consola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PostgreSQL, SQLite, Qdrant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5715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Consolas"/>
              </a:defRPr>
            </a:pPr>
            <a:r>
              <a:t>Infra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맑은 고딕"/>
              </a:defRPr>
            </a:pPr>
            <a:r>
              <a:t>AWS, Vercel, Render,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27500"/>
                </a:solidFill>
                <a:latin typeface="Consolas"/>
              </a:defRPr>
            </a:pPr>
            <a:r>
              <a:t>PROJECTS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맑은 고딕"/>
              </a:defRPr>
            </a:pPr>
            <a:r>
              <a:t>프로젝트 요약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2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CryptoVol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470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783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맑은 고딕"/>
              </a:defRPr>
            </a:pPr>
            <a:r>
              <a:t>실시간 멀티코인 변동성 예측 대시보드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2057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onsolas"/>
              </a:defRPr>
            </a:pPr>
            <a:r>
              <a:t>FastAPI · React · WebSocket · GARCH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7432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97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Seoul Culture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27614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2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6974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맑은 고딕"/>
              </a:defRPr>
            </a:pPr>
            <a:r>
              <a:t>서울 2,500+ 문화시설 인터랙티브 탐색 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971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onsolas"/>
              </a:defRPr>
            </a:pPr>
            <a:r>
              <a:t>FastAPI · React · Leaflet · scikit-learn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6576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E2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WorkFlow Agent (DUDE)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3675887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D9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맑은 고딕"/>
              </a:defRPr>
            </a:pPr>
            <a:r>
              <a:t>Multi-Agent 사내 업무 자동화 시스템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onsolas"/>
              </a:defRPr>
            </a:pPr>
            <a:r>
              <a:t>LangGraph · vLLM · LoRA · Qdrant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720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526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PyMate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5902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D9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526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맑은 고딕"/>
              </a:defRPr>
            </a:pPr>
            <a:r>
              <a:t>AI 기반 부트캠프 학습 플랫폼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4800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onsolas"/>
              </a:defRPr>
            </a:pPr>
            <a:r>
              <a:t>Django · LangChain · Qdrant · AWS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4864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440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1A"/>
                </a:solidFill>
                <a:latin typeface="맑은 고딕"/>
              </a:defRPr>
            </a:pPr>
            <a:r>
              <a:t>SubFlow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5504688"/>
            <a:ext cx="731520" cy="274320"/>
          </a:xfrm>
          <a:prstGeom prst="roundRect">
            <a:avLst>
              <a:gd name="adj" fmla="val 50000"/>
            </a:avLst>
          </a:prstGeom>
          <a:solidFill>
            <a:srgbClr val="D99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Consolas"/>
              </a:defRPr>
            </a:pPr>
            <a:r>
              <a:t>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464"/>
                </a:solidFill>
                <a:latin typeface="맑은 고딕"/>
              </a:defRPr>
            </a:pPr>
            <a:r>
              <a:t>구독 관리 플랫폼 (지출 분석·환율 추적)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715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Consolas"/>
              </a:defRPr>
            </a:pPr>
            <a:r>
              <a:t>FastAPI · React · TypeScript ·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B4FCB"/>
                </a:solidFill>
                <a:latin typeface="Consolas"/>
              </a:defRPr>
            </a:pPr>
            <a:r>
              <a:t>PROBLEM SOLVING  #01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맑은 고딕"/>
              </a:defRPr>
            </a:pPr>
            <a:r>
              <a:t>CryptoVol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맑은 고딕"/>
              </a:defRPr>
            </a:pPr>
            <a:r>
              <a:t>분석 코드를 실시간 API로 전환하며</a:t>
            </a:r>
            <a:br/>
            <a:r>
              <a:t>서비스 관점의 설계를 체득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503C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3228"/>
                </a:solidFill>
                <a:latin typeface="맑은 고딕"/>
              </a:defRPr>
            </a:pPr>
            <a:r>
              <a:t>Jupyter에서 수동 실행하던 GARCH 모형을 API로 서빙하려니,</a:t>
            </a:r>
            <a:br/>
            <a:r>
              <a:t>적합(fit) 연산이 수백ms — 동시 요청 시 응답 지연 발생.</a:t>
            </a:r>
            <a:br/>
            <a:r>
              <a:t>프론트에서 Binance WebSocket 직접 연결 시 CORS + API 키 노출.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4FCB"/>
                </a:solidFill>
                <a:latin typeface="Consolas"/>
              </a:defRPr>
            </a:pPr>
            <a: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5분 TTL 인메모리 캐싱 + 120일 윈도우 제한으로 GARCH 재계산 방지</a:t>
            </a:r>
            <a:br/>
            <a:r>
              <a:t>개별 모형 실패 시 0.0 반환으로 에러 격리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4290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FastAPI WebSocket 릴레이 서버 구현</a:t>
            </a:r>
            <a:br/>
            <a:r>
              <a:t>Set 기반 클라이언트 추적으로 Binance → 브라우저 브로드캐스트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4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코인 전환 시 Promise.all로 API 호출 병렬화</a:t>
            </a:r>
            <a:br/>
            <a:r>
              <a:t>체감 전환 속도 확보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onsolas"/>
              </a:defRPr>
            </a:pPr>
            <a:r>
              <a:t>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Endpoints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14 REST + 1 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Coins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BTC / ETH / SOL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Render + Vercel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03520"/>
            <a:ext cx="4846320" cy="10972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B4FCB"/>
                </a:solidFill>
                <a:latin typeface="Consolas"/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3C3C"/>
                </a:solidFill>
                <a:latin typeface="맑은 고딕"/>
              </a:defRPr>
            </a:pPr>
            <a:r>
              <a:t>"분석할 수 있다"와 "API로 서빙할 수 있다"는</a:t>
            </a:r>
            <a:br/>
            <a:r>
              <a:t>완전히 다른 설계 관점이 필요하다는 것을 체감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A34A"/>
                </a:solidFill>
                <a:latin typeface="Consolas"/>
              </a:defRPr>
            </a:pPr>
            <a:r>
              <a:t>PROBLEM SOLVING  #02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맑은 고딕"/>
              </a:defRPr>
            </a:pPr>
            <a:r>
              <a:t>PyMate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맑은 고딕"/>
              </a:defRPr>
            </a:pPr>
            <a:r>
              <a:t>Flask MVP → Django 프로덕션 전환과</a:t>
            </a:r>
            <a:br/>
            <a:r>
              <a:t>인프라 구조 이해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503C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3228"/>
                </a:solidFill>
                <a:latin typeface="맑은 고딕"/>
              </a:defRPr>
            </a:pPr>
            <a:r>
              <a:t>Flask MVP는 기능적으로 동작했지만, ORM 마이그레이션·정적 파일</a:t>
            </a:r>
            <a:br/>
            <a:r>
              <a:t>서빙·관리자 페이지 등 프로덕션 기능을 수동 구성해야 했음.</a:t>
            </a:r>
            <a:br/>
            <a:r>
              <a:t>AWS 배포 시 Nginx → Gunicorn → Flask에서 반복적인 502 에러.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onsolas"/>
              </a:defRPr>
            </a:pPr>
            <a: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Django 내장 기능(ORM migration, admin, collectstatic)으로</a:t>
            </a:r>
            <a:br/>
            <a:r>
              <a:t>프로덕션 인프라 표준화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4290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RAG 임베딩 768D → 3072D 교체 + Qdrant 벡터 DB 재설계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Nginx → Gunicorn → Django 서버 흐름 직접 구성</a:t>
            </a:r>
            <a:br/>
            <a:r>
              <a:t>소켓 바인딩 설정 문제 해결로 502 에러 근본 해결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onsolas"/>
              </a:defRPr>
            </a:pPr>
            <a:r>
              <a:t>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Context Precision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0.83 → 0.97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Context Recall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0.70 → 0.79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Infra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AWS 안정화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03520"/>
            <a:ext cx="4846320" cy="10972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6A34A"/>
                </a:solidFill>
                <a:latin typeface="Consolas"/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3C3C"/>
                </a:solidFill>
                <a:latin typeface="맑은 고딕"/>
              </a:defRPr>
            </a:pPr>
            <a:r>
              <a:t>"기능을 더 만드는 것"보다 "구조를 바꾸는 것"이</a:t>
            </a:r>
            <a:br/>
            <a:r>
              <a:t>서비스 품질에 더 큰 영향을 준다는 판단 기준을 획득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27500"/>
                </a:solidFill>
                <a:latin typeface="Consolas"/>
              </a:defRPr>
            </a:pPr>
            <a:r>
              <a:t>PROBLEM SOLVING  #03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6464"/>
                </a:solidFill>
                <a:latin typeface="맑은 고딕"/>
              </a:defRPr>
            </a:pPr>
            <a:r>
              <a:t>WorkFlow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A1A1A"/>
                </a:solidFill>
                <a:latin typeface="맑은 고딕"/>
              </a:defRPr>
            </a:pPr>
            <a:r>
              <a:t>LLM 출력을 맹신하지 않는</a:t>
            </a:r>
            <a:br/>
            <a:r>
              <a:t>서버 검증 시스템 설계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5029200" cy="1828800"/>
          </a:xfrm>
          <a:prstGeom prst="roundRect">
            <a:avLst>
              <a:gd name="adj" fmla="val 3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94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C503C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44805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83228"/>
                </a:solidFill>
                <a:latin typeface="맑은 고딕"/>
              </a:defRPr>
            </a:pPr>
            <a:r>
              <a:t>sLLM이 confidence 0.95를 출력해도 존재하지 않는 조항을</a:t>
            </a:r>
            <a:br/>
            <a:r>
              <a:t>인용(환각)하거나 오답 반환. 기본 판단 정확도 37.2%.</a:t>
            </a:r>
            <a:br/>
            <a:r>
              <a:t>LoRA v2에서 98건 추가 시 오히려 -3.2%p 하락 (라벨 오염).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27500"/>
                </a:solidFill>
                <a:latin typeface="Consolas"/>
              </a:defRPr>
            </a:pPr>
            <a:r>
              <a:t>SOLUTION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4688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2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42316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4중 Guardrail: 키워드 매칭(0~1.0), 조항 존재 검증,</a:t>
            </a:r>
            <a:br/>
            <a:r>
              <a:t>카테고리 제한, 일관성 모니터링(500건 FIFO)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4290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2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38328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5-factor Confidence 보정 공식 설계</a:t>
            </a:r>
            <a:br/>
            <a:r>
              <a:t>Hard Cap으로 LLM 과신 방지 (RAG &lt; 0.2 → max 0.4)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2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343400"/>
            <a:ext cx="4389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A1A1A"/>
                </a:solidFill>
                <a:latin typeface="맑은 고딕"/>
              </a:defRPr>
            </a:pPr>
            <a:r>
              <a:t>LoRA v3 — 19건만 약점(재량 표현 14 + 경계 5)</a:t>
            </a:r>
            <a:br/>
            <a:r>
              <a:t>정밀 타겟팅하여 회복. 데이터 양 &lt; 질 증명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A34A"/>
                </a:solidFill>
                <a:latin typeface="Consolas"/>
              </a:defRPr>
            </a:pPr>
            <a:r>
              <a:t>RESULT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판단 정확도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37% → 85%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JSON 유효율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70% → 97%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26280"/>
            <a:ext cx="1554480" cy="82296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46464"/>
                </a:solidFill>
                <a:latin typeface="Consolas"/>
              </a:defRPr>
            </a:pPr>
            <a:r>
              <a:t>RAG MRR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4846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맑은 고딕"/>
              </a:defRPr>
            </a:pPr>
            <a:r>
              <a:t>0.63 → 0.95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03520"/>
            <a:ext cx="4846320" cy="1097280"/>
          </a:xfrm>
          <a:prstGeom prst="roundRect">
            <a:avLst>
              <a:gd name="adj" fmla="val 3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27500"/>
                </a:solidFill>
                <a:latin typeface="Consolas"/>
              </a:defRPr>
            </a:pPr>
            <a:r>
              <a:t>KEY INSIGHT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56692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C3C3C"/>
                </a:solidFill>
                <a:latin typeface="맑은 고딕"/>
              </a:defRPr>
            </a:pPr>
            <a:r>
              <a:t>"데이터 양 &lt; 데이터 질" — 98건 무작위 추가보다</a:t>
            </a:r>
            <a:br/>
            <a:r>
              <a:t>19건 정밀 타겟팅이 효과적. LLM 서비스에서 서버 단 검증이 핵심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onsolas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E27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맑은 고딕"/>
              </a:defRPr>
            </a:pPr>
          </a:p>
          <a:p>
            <a:pPr>
              <a:spcBef>
                <a:spcPts val="0"/>
              </a:spcBef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t>윤경은  |  가천대학교 응용통계학과</a:t>
            </a:r>
          </a:p>
          <a:p>
            <a:pPr>
              <a:spcBef>
                <a:spcPts val="800"/>
              </a:spcBef>
              <a:defRPr sz="10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yge0307@gmail.com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github.com/ykgstar37-lab</a:t>
            </a:r>
          </a:p>
          <a:p>
            <a:pPr>
              <a:spcBef>
                <a:spcPts val="400"/>
              </a:spcBef>
              <a:defRPr sz="1300" b="0">
                <a:solidFill>
                  <a:srgbClr val="A0A0A0"/>
                </a:solidFill>
                <a:latin typeface="맑은 고딕"/>
              </a:defRPr>
            </a:pPr>
            <a:r>
              <a:t>linkedin.com/in/yoon0307eun</a:t>
            </a:r>
          </a:p>
          <a:p>
            <a:pPr>
              <a:spcBef>
                <a:spcPts val="1200"/>
              </a:spcBef>
              <a:defRPr sz="1000" b="0">
                <a:solidFill>
                  <a:srgbClr val="FFFFFF"/>
                </a:solidFill>
                <a:latin typeface="맑은 고딕"/>
              </a:defRPr>
            </a:pPr>
          </a:p>
          <a:p>
            <a:pPr>
              <a:spcBef>
                <a:spcPts val="400"/>
              </a:spcBef>
              <a:defRPr sz="1400" b="1">
                <a:solidFill>
                  <a:srgbClr val="E27500"/>
                </a:solidFill>
                <a:latin typeface="맑은 고딕"/>
              </a:defRPr>
            </a:pPr>
            <a:r>
              <a:t>portfolio-nine-orcin-86.vercel.app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